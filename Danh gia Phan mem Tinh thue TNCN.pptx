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133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"/>
          <p:cNvSpPr txBox="1"/>
          <p:nvPr/>
        </p:nvSpPr>
        <p:spPr>
          <a:xfrm>
            <a:off x="514978" y="439615"/>
            <a:ext cx="4772967" cy="2449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Phần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mềm Tính thuế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nhập Cá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</a:t>
            </a:r>
            <a:endParaRPr lang="en-US" sz="4400" dirty="0"/>
          </a:p>
        </p:txBody>
      </p:sp>
      <p:pic>
        <p:nvPicPr>
          <p:cNvPr id="3" name="Ảnh bìa" descr="/home/claude/work/img/i-001-00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32390" y="0"/>
            <a:ext cx="3711610" cy="3498082"/>
          </a:xfrm>
          <a:prstGeom prst="rect">
            <a:avLst/>
          </a:prstGeom>
        </p:spPr>
      </p:pic>
      <p:sp>
        <p:nvSpPr>
          <p:cNvPr id="4" name="Khung thành viên"/>
          <p:cNvSpPr/>
          <p:nvPr/>
        </p:nvSpPr>
        <p:spPr>
          <a:xfrm>
            <a:off x="514978" y="3127549"/>
            <a:ext cx="4923692" cy="1105319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hành viên nhóm"/>
          <p:cNvSpPr txBox="1"/>
          <p:nvPr/>
        </p:nvSpPr>
        <p:spPr>
          <a:xfrm>
            <a:off x="942033" y="3127549"/>
            <a:ext cx="4333352" cy="1105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 nhóm: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Thành Long - 23010462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Vũ Huy Hoàng - 23010138</a:t>
            </a:r>
            <a:endParaRPr lang="en-US" sz="1400" dirty="0"/>
          </a:p>
        </p:txBody>
      </p:sp>
      <p:sp>
        <p:nvSpPr>
          <p:cNvPr id="6" name="Phụ đề"/>
          <p:cNvSpPr txBox="1"/>
          <p:nvPr/>
        </p:nvSpPr>
        <p:spPr>
          <a:xfrm>
            <a:off x="5526593" y="3579725"/>
            <a:ext cx="3516923" cy="69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&amp; Kiểm định Chất lượng Phần mềm</a:t>
            </a:r>
            <a:endParaRPr lang="en-US" sz="2200" dirty="0"/>
          </a:p>
        </p:txBody>
      </p:sp>
      <p:sp>
        <p:nvSpPr>
          <p:cNvPr id="7" name="Đường kẻ"/>
          <p:cNvSpPr/>
          <p:nvPr/>
        </p:nvSpPr>
        <p:spPr>
          <a:xfrm>
            <a:off x="514978" y="4615962"/>
            <a:ext cx="81140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ải tối"/>
          <p:cNvSpPr/>
          <p:nvPr/>
        </p:nvSpPr>
        <p:spPr>
          <a:xfrm>
            <a:off x="0" y="0"/>
            <a:ext cx="521258" cy="51435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Ảnh giới thiệu" descr="/home/claude/work/img/i-002-00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58" y="0"/>
            <a:ext cx="2041071" cy="5143500"/>
          </a:xfrm>
          <a:prstGeom prst="rect">
            <a:avLst/>
          </a:prstGeom>
        </p:spPr>
      </p:pic>
      <p:sp>
        <p:nvSpPr>
          <p:cNvPr id="4" name="Khối xanh"/>
          <p:cNvSpPr/>
          <p:nvPr/>
        </p:nvSpPr>
        <p:spPr>
          <a:xfrm>
            <a:off x="2078753" y="2556049"/>
            <a:ext cx="960874" cy="2072473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Ô góc"/>
          <p:cNvSpPr/>
          <p:nvPr/>
        </p:nvSpPr>
        <p:spPr>
          <a:xfrm>
            <a:off x="8629022" y="0"/>
            <a:ext cx="514978" cy="51497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iêu đề"/>
          <p:cNvSpPr txBox="1"/>
          <p:nvPr/>
        </p:nvSpPr>
        <p:spPr>
          <a:xfrm>
            <a:off x="4000500" y="785027"/>
            <a:ext cx="4521758" cy="125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Thiệu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Tài</a:t>
            </a:r>
            <a:endParaRPr lang="en-US" sz="4400" dirty="0"/>
          </a:p>
        </p:txBody>
      </p:sp>
      <p:sp>
        <p:nvSpPr>
          <p:cNvPr id="7" name="Mục tiêu"/>
          <p:cNvSpPr txBox="1"/>
          <p:nvPr/>
        </p:nvSpPr>
        <p:spPr>
          <a:xfrm>
            <a:off x="4000500" y="2543489"/>
            <a:ext cx="4333352" cy="213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đánh giá phần mềm tính thuế thu nhập cá nhân (TNCN):</a:t>
            </a:r>
            <a:endParaRPr lang="en-US" sz="14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tính chính xác của thuật toán tính thuế TNCN theo quy định pháp luật hiện hành.</a:t>
            </a:r>
            <a:endParaRPr lang="en-US" sz="14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tính ổn định của hệ thống dưới nhiều điều kiện vận hành khác nhau.</a:t>
            </a:r>
            <a:endParaRPr lang="en-US" sz="14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bảo mật dữ liệu người dùng và thông tin tài chính nhạy cảm.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ơ đồ use case" descr="/home/claude/work/img/usecase_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9615" y="62802"/>
            <a:ext cx="3504363" cy="4270549"/>
          </a:xfrm>
          <a:prstGeom prst="rect">
            <a:avLst/>
          </a:prstGeom>
        </p:spPr>
      </p:pic>
      <p:sp>
        <p:nvSpPr>
          <p:cNvPr id="3" name="Khối xanh"/>
          <p:cNvSpPr/>
          <p:nvPr/>
        </p:nvSpPr>
        <p:spPr>
          <a:xfrm>
            <a:off x="514978" y="4628522"/>
            <a:ext cx="3265714" cy="51497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iêu đề"/>
          <p:cNvSpPr txBox="1"/>
          <p:nvPr/>
        </p:nvSpPr>
        <p:spPr>
          <a:xfrm>
            <a:off x="4000500" y="942033"/>
            <a:ext cx="4396154" cy="119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</a:t>
            </a:r>
            <a:endParaRPr lang="en-US" sz="4400" dirty="0"/>
          </a:p>
        </p:txBody>
      </p:sp>
      <p:sp>
        <p:nvSpPr>
          <p:cNvPr id="5" name="Vai trò 1 số"/>
          <p:cNvSpPr txBox="1"/>
          <p:nvPr/>
        </p:nvSpPr>
        <p:spPr>
          <a:xfrm>
            <a:off x="4754126" y="2323681"/>
            <a:ext cx="835269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Vai trò 1 nội dung"/>
          <p:cNvSpPr txBox="1"/>
          <p:nvPr/>
        </p:nvSpPr>
        <p:spPr>
          <a:xfrm>
            <a:off x="5652198" y="2260879"/>
            <a:ext cx="2826099" cy="565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viên: Khai báo thông tin, tính thử thuế thu nhập cá nhân</a:t>
            </a:r>
            <a:endParaRPr lang="en-US" sz="1600" dirty="0"/>
          </a:p>
        </p:txBody>
      </p:sp>
      <p:sp>
        <p:nvSpPr>
          <p:cNvPr id="7" name="Vai trò 2 số"/>
          <p:cNvSpPr txBox="1"/>
          <p:nvPr/>
        </p:nvSpPr>
        <p:spPr>
          <a:xfrm>
            <a:off x="4754126" y="2983104"/>
            <a:ext cx="835269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Vai trò 2 nội dung"/>
          <p:cNvSpPr txBox="1"/>
          <p:nvPr/>
        </p:nvSpPr>
        <p:spPr>
          <a:xfrm>
            <a:off x="5652198" y="2920302"/>
            <a:ext cx="2826099" cy="565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 phòng: Quản lý nhân sự, phê duyệt dữ liệu phòng ban</a:t>
            </a:r>
            <a:endParaRPr lang="en-US" sz="1600" dirty="0"/>
          </a:p>
        </p:txBody>
      </p:sp>
      <p:sp>
        <p:nvSpPr>
          <p:cNvPr id="9" name="Vai trò 3 số"/>
          <p:cNvSpPr txBox="1"/>
          <p:nvPr/>
        </p:nvSpPr>
        <p:spPr>
          <a:xfrm>
            <a:off x="4754126" y="3611126"/>
            <a:ext cx="835269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0" name="Vai trò 3 nội dung"/>
          <p:cNvSpPr txBox="1"/>
          <p:nvPr/>
        </p:nvSpPr>
        <p:spPr>
          <a:xfrm>
            <a:off x="5652198" y="3548324"/>
            <a:ext cx="2826099" cy="565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toán: Quản lý thuế, xuất báo cáo tổng hợp</a:t>
            </a:r>
            <a:endParaRPr lang="en-US" sz="1600" dirty="0"/>
          </a:p>
        </p:txBody>
      </p:sp>
      <p:sp>
        <p:nvSpPr>
          <p:cNvPr id="11" name="Đường kẻ"/>
          <p:cNvSpPr/>
          <p:nvPr/>
        </p:nvSpPr>
        <p:spPr>
          <a:xfrm>
            <a:off x="8629022" y="2292280"/>
            <a:ext cx="0" cy="1808703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Đường kẻ"/>
          <p:cNvSpPr/>
          <p:nvPr/>
        </p:nvSpPr>
        <p:spPr>
          <a:xfrm>
            <a:off x="514978" y="879231"/>
            <a:ext cx="0" cy="2072473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iêu đề"/>
          <p:cNvSpPr txBox="1"/>
          <p:nvPr/>
        </p:nvSpPr>
        <p:spPr>
          <a:xfrm>
            <a:off x="785027" y="879231"/>
            <a:ext cx="2763297" cy="213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cầu hệ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</a:t>
            </a:r>
            <a:endParaRPr lang="en-US" sz="4400" dirty="0"/>
          </a:p>
        </p:txBody>
      </p:sp>
      <p:pic>
        <p:nvPicPr>
          <p:cNvPr id="4" name="Chức năng" descr="/home/claude/work/img/i-004-00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9775" y="847830"/>
            <a:ext cx="2116434" cy="1588896"/>
          </a:xfrm>
          <a:prstGeom prst="rect">
            <a:avLst/>
          </a:prstGeom>
        </p:spPr>
      </p:pic>
      <p:sp>
        <p:nvSpPr>
          <p:cNvPr id="5" name="Nhãn Chức năng nền"/>
          <p:cNvSpPr/>
          <p:nvPr/>
        </p:nvSpPr>
        <p:spPr>
          <a:xfrm>
            <a:off x="3491802" y="1639137"/>
            <a:ext cx="1783582" cy="50241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Nhãn Chức năng"/>
          <p:cNvSpPr txBox="1"/>
          <p:nvPr/>
        </p:nvSpPr>
        <p:spPr>
          <a:xfrm>
            <a:off x="3491802" y="1639137"/>
            <a:ext cx="1783582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2000" dirty="0"/>
          </a:p>
        </p:txBody>
      </p:sp>
      <p:pic>
        <p:nvPicPr>
          <p:cNvPr id="7" name="Phi chức năng" descr="/home/claude/work/img/i-004-00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18868" y="847830"/>
            <a:ext cx="2116434" cy="1588896"/>
          </a:xfrm>
          <a:prstGeom prst="rect">
            <a:avLst/>
          </a:prstGeom>
        </p:spPr>
      </p:pic>
      <p:sp>
        <p:nvSpPr>
          <p:cNvPr id="8" name="Nhãn Phi chức năng nền"/>
          <p:cNvSpPr/>
          <p:nvPr/>
        </p:nvSpPr>
        <p:spPr>
          <a:xfrm>
            <a:off x="6160896" y="1639137"/>
            <a:ext cx="1783582" cy="50241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Nhãn Phi chức năng"/>
          <p:cNvSpPr txBox="1"/>
          <p:nvPr/>
        </p:nvSpPr>
        <p:spPr>
          <a:xfrm>
            <a:off x="6160896" y="1639137"/>
            <a:ext cx="1783582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chức năng</a:t>
            </a:r>
            <a:endParaRPr lang="en-US" sz="2000" dirty="0"/>
          </a:p>
        </p:txBody>
      </p:sp>
      <p:pic>
        <p:nvPicPr>
          <p:cNvPr id="10" name="Bảo mật" descr="/home/claude/work/img/i-004-00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49775" y="2562330"/>
            <a:ext cx="2116434" cy="1588896"/>
          </a:xfrm>
          <a:prstGeom prst="rect">
            <a:avLst/>
          </a:prstGeom>
        </p:spPr>
      </p:pic>
      <p:sp>
        <p:nvSpPr>
          <p:cNvPr id="11" name="Nhãn Bảo mật nền"/>
          <p:cNvSpPr/>
          <p:nvPr/>
        </p:nvSpPr>
        <p:spPr>
          <a:xfrm>
            <a:off x="3491802" y="3359918"/>
            <a:ext cx="1783582" cy="50241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Nhãn Bảo mật"/>
          <p:cNvSpPr txBox="1"/>
          <p:nvPr/>
        </p:nvSpPr>
        <p:spPr>
          <a:xfrm>
            <a:off x="3491802" y="3359918"/>
            <a:ext cx="1783582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</a:t>
            </a:r>
            <a:endParaRPr lang="en-US" sz="2000" dirty="0"/>
          </a:p>
        </p:txBody>
      </p:sp>
      <p:pic>
        <p:nvPicPr>
          <p:cNvPr id="13" name="Hiệu năng" descr="/home/claude/work/img/i-004-007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18868" y="2562330"/>
            <a:ext cx="2116434" cy="1588896"/>
          </a:xfrm>
          <a:prstGeom prst="rect">
            <a:avLst/>
          </a:prstGeom>
        </p:spPr>
      </p:pic>
      <p:sp>
        <p:nvSpPr>
          <p:cNvPr id="14" name="Nhãn Hiệu năng nền"/>
          <p:cNvSpPr/>
          <p:nvPr/>
        </p:nvSpPr>
        <p:spPr>
          <a:xfrm>
            <a:off x="6160896" y="3359918"/>
            <a:ext cx="1783582" cy="50241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Nhãn Hiệu năng"/>
          <p:cNvSpPr txBox="1"/>
          <p:nvPr/>
        </p:nvSpPr>
        <p:spPr>
          <a:xfrm>
            <a:off x="6160896" y="3359918"/>
            <a:ext cx="1783582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năng</a:t>
            </a:r>
            <a:endParaRPr lang="en-US" sz="2000" dirty="0"/>
          </a:p>
        </p:txBody>
      </p:sp>
      <p:sp>
        <p:nvSpPr>
          <p:cNvPr id="16" name="Dải tối"/>
          <p:cNvSpPr/>
          <p:nvPr/>
        </p:nvSpPr>
        <p:spPr>
          <a:xfrm>
            <a:off x="514978" y="4603401"/>
            <a:ext cx="8114044" cy="540099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Đường kẻ"/>
          <p:cNvSpPr/>
          <p:nvPr/>
        </p:nvSpPr>
        <p:spPr>
          <a:xfrm>
            <a:off x="514978" y="879231"/>
            <a:ext cx="0" cy="2072473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iêu đề"/>
          <p:cNvSpPr txBox="1"/>
          <p:nvPr/>
        </p:nvSpPr>
        <p:spPr>
          <a:xfrm>
            <a:off x="785027" y="1193242"/>
            <a:ext cx="2951703" cy="2260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</a:t>
            </a:r>
            <a:endParaRPr lang="en-US" sz="4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Chiến</a:t>
            </a:r>
            <a:endParaRPr lang="en-US" sz="4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Lược Kiểm</a:t>
            </a:r>
            <a:endParaRPr lang="en-US" sz="4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Thử</a:t>
            </a:r>
            <a:endParaRPr lang="en-US" sz="4000" dirty="0"/>
          </a:p>
        </p:txBody>
      </p:sp>
      <p:pic>
        <p:nvPicPr>
          <p:cNvPr id="4" name="Black Box" descr="/home/claude/work/img/i-005-00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9775" y="847830"/>
            <a:ext cx="2116434" cy="1588896"/>
          </a:xfrm>
          <a:prstGeom prst="rect">
            <a:avLst/>
          </a:prstGeom>
        </p:spPr>
      </p:pic>
      <p:pic>
        <p:nvPicPr>
          <p:cNvPr id="5" name="White Box" descr="/home/claude/work/img/i-005-01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18868" y="847830"/>
            <a:ext cx="2116434" cy="1588896"/>
          </a:xfrm>
          <a:prstGeom prst="rect">
            <a:avLst/>
          </a:prstGeom>
        </p:spPr>
      </p:pic>
      <p:pic>
        <p:nvPicPr>
          <p:cNvPr id="6" name="Manual" descr="/home/claude/work/img/i-005-00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49775" y="2562330"/>
            <a:ext cx="2116434" cy="1588896"/>
          </a:xfrm>
          <a:prstGeom prst="rect">
            <a:avLst/>
          </a:prstGeom>
        </p:spPr>
      </p:pic>
      <p:pic>
        <p:nvPicPr>
          <p:cNvPr id="7" name="Automation" descr="/home/claude/work/img/i-005-01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18868" y="2562330"/>
            <a:ext cx="2116434" cy="1588896"/>
          </a:xfrm>
          <a:prstGeom prst="rect">
            <a:avLst/>
          </a:prstGeom>
        </p:spPr>
      </p:pic>
      <p:sp>
        <p:nvSpPr>
          <p:cNvPr id="8" name="Nhãn Black Box nền"/>
          <p:cNvSpPr/>
          <p:nvPr/>
        </p:nvSpPr>
        <p:spPr>
          <a:xfrm>
            <a:off x="3906297" y="2066192"/>
            <a:ext cx="2009670" cy="50241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Nhãn Black Box"/>
          <p:cNvSpPr txBox="1"/>
          <p:nvPr/>
        </p:nvSpPr>
        <p:spPr>
          <a:xfrm>
            <a:off x="3906297" y="2066192"/>
            <a:ext cx="2009670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Testing</a:t>
            </a:r>
            <a:endParaRPr lang="en-US" sz="1800" dirty="0"/>
          </a:p>
        </p:txBody>
      </p:sp>
      <p:sp>
        <p:nvSpPr>
          <p:cNvPr id="10" name="Nhãn White Box nền"/>
          <p:cNvSpPr/>
          <p:nvPr/>
        </p:nvSpPr>
        <p:spPr>
          <a:xfrm>
            <a:off x="6569110" y="2110154"/>
            <a:ext cx="2009670" cy="4521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Nhãn White Box"/>
          <p:cNvSpPr txBox="1"/>
          <p:nvPr/>
        </p:nvSpPr>
        <p:spPr>
          <a:xfrm>
            <a:off x="6569110" y="2110154"/>
            <a:ext cx="2009670" cy="45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Box Testing</a:t>
            </a:r>
            <a:endParaRPr lang="en-US" sz="1800" dirty="0"/>
          </a:p>
        </p:txBody>
      </p:sp>
      <p:sp>
        <p:nvSpPr>
          <p:cNvPr id="12" name="Nhãn Manual nền"/>
          <p:cNvSpPr/>
          <p:nvPr/>
        </p:nvSpPr>
        <p:spPr>
          <a:xfrm>
            <a:off x="3906297" y="3906297"/>
            <a:ext cx="2009670" cy="50241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Nhãn Manual"/>
          <p:cNvSpPr txBox="1"/>
          <p:nvPr/>
        </p:nvSpPr>
        <p:spPr>
          <a:xfrm>
            <a:off x="3906297" y="3906297"/>
            <a:ext cx="2009670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1800" dirty="0"/>
          </a:p>
        </p:txBody>
      </p:sp>
      <p:sp>
        <p:nvSpPr>
          <p:cNvPr id="14" name="Nhãn Automation nền"/>
          <p:cNvSpPr/>
          <p:nvPr/>
        </p:nvSpPr>
        <p:spPr>
          <a:xfrm>
            <a:off x="6569110" y="3837214"/>
            <a:ext cx="2009670" cy="50241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Nhãn Automation"/>
          <p:cNvSpPr txBox="1"/>
          <p:nvPr/>
        </p:nvSpPr>
        <p:spPr>
          <a:xfrm>
            <a:off x="6569110" y="3837214"/>
            <a:ext cx="2009670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Testing</a:t>
            </a:r>
            <a:endParaRPr lang="en-US" sz="1800" dirty="0"/>
          </a:p>
        </p:txBody>
      </p:sp>
      <p:sp>
        <p:nvSpPr>
          <p:cNvPr id="16" name="Dải tối"/>
          <p:cNvSpPr/>
          <p:nvPr/>
        </p:nvSpPr>
        <p:spPr>
          <a:xfrm>
            <a:off x="514978" y="4603401"/>
            <a:ext cx="8114044" cy="540099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"/>
          <p:cNvSpPr txBox="1"/>
          <p:nvPr/>
        </p:nvSpPr>
        <p:spPr>
          <a:xfrm>
            <a:off x="514978" y="439615"/>
            <a:ext cx="5275385" cy="106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Hiệu năng &amp;</a:t>
            </a:r>
            <a:endParaRPr lang="en-US" sz="4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mật</a:t>
            </a:r>
            <a:endParaRPr lang="en-US" sz="4000" dirty="0"/>
          </a:p>
        </p:txBody>
      </p:sp>
      <p:sp>
        <p:nvSpPr>
          <p:cNvPr id="3" name="Đường kẻ"/>
          <p:cNvSpPr/>
          <p:nvPr/>
        </p:nvSpPr>
        <p:spPr>
          <a:xfrm>
            <a:off x="6060412" y="916912"/>
            <a:ext cx="256861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Kiểm thử Hiệu năng" descr="/home/claude/work/img/i-006-01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4978" y="1764742"/>
            <a:ext cx="2530929" cy="1595176"/>
          </a:xfrm>
          <a:prstGeom prst="rect">
            <a:avLst/>
          </a:prstGeom>
        </p:spPr>
      </p:pic>
      <p:sp>
        <p:nvSpPr>
          <p:cNvPr id="5" name="Kiểm thử Hiệu năng tiêu đề"/>
          <p:cNvSpPr txBox="1"/>
          <p:nvPr/>
        </p:nvSpPr>
        <p:spPr>
          <a:xfrm>
            <a:off x="514978" y="3391319"/>
            <a:ext cx="2530929" cy="314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Hiệu năng</a:t>
            </a:r>
            <a:endParaRPr lang="en-US" sz="2200" dirty="0"/>
          </a:p>
        </p:txBody>
      </p:sp>
      <p:sp>
        <p:nvSpPr>
          <p:cNvPr id="6" name="Kiểm thử Hiệu năng mô tả"/>
          <p:cNvSpPr txBox="1"/>
          <p:nvPr/>
        </p:nvSpPr>
        <p:spPr>
          <a:xfrm>
            <a:off x="514978" y="3736731"/>
            <a:ext cx="2530929" cy="753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JMeter, LoadRunner – Đo thời gian phản hồi, kiểm tra chịu tải</a:t>
            </a:r>
            <a:endParaRPr lang="en-US" sz="1400" dirty="0"/>
          </a:p>
        </p:txBody>
      </p:sp>
      <p:pic>
        <p:nvPicPr>
          <p:cNvPr id="7" name="Kiểm thử Bảo mật" descr="/home/claude/work/img/i-006-01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84555" y="1764742"/>
            <a:ext cx="2574890" cy="1595176"/>
          </a:xfrm>
          <a:prstGeom prst="rect">
            <a:avLst/>
          </a:prstGeom>
        </p:spPr>
      </p:pic>
      <p:sp>
        <p:nvSpPr>
          <p:cNvPr id="8" name="Kiểm thử Bảo mật tiêu đề"/>
          <p:cNvSpPr txBox="1"/>
          <p:nvPr/>
        </p:nvSpPr>
        <p:spPr>
          <a:xfrm>
            <a:off x="3284555" y="3391319"/>
            <a:ext cx="2574890" cy="314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Bảo mật</a:t>
            </a:r>
            <a:endParaRPr lang="en-US" sz="2200" dirty="0"/>
          </a:p>
        </p:txBody>
      </p:sp>
      <p:sp>
        <p:nvSpPr>
          <p:cNvPr id="9" name="Kiểm thử Bảo mật mô tả"/>
          <p:cNvSpPr txBox="1"/>
          <p:nvPr/>
        </p:nvSpPr>
        <p:spPr>
          <a:xfrm>
            <a:off x="3284555" y="3736731"/>
            <a:ext cx="2574890" cy="753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– SQL Injection, XSS, kiểm tra quyền truy cập</a:t>
            </a:r>
            <a:endParaRPr lang="en-US" sz="1400" dirty="0"/>
          </a:p>
        </p:txBody>
      </p:sp>
      <p:pic>
        <p:nvPicPr>
          <p:cNvPr id="10" name="Mục tiêu Kiểm thử" descr="/home/claude/work/img/i-006-01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60412" y="1764742"/>
            <a:ext cx="2568610" cy="1595176"/>
          </a:xfrm>
          <a:prstGeom prst="rect">
            <a:avLst/>
          </a:prstGeom>
        </p:spPr>
      </p:pic>
      <p:sp>
        <p:nvSpPr>
          <p:cNvPr id="11" name="Mục tiêu Kiểm thử tiêu đề"/>
          <p:cNvSpPr txBox="1"/>
          <p:nvPr/>
        </p:nvSpPr>
        <p:spPr>
          <a:xfrm>
            <a:off x="6060412" y="3391319"/>
            <a:ext cx="2568610" cy="314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Kiểm thử</a:t>
            </a:r>
            <a:endParaRPr lang="en-US" sz="2200" dirty="0"/>
          </a:p>
        </p:txBody>
      </p:sp>
      <p:sp>
        <p:nvSpPr>
          <p:cNvPr id="12" name="Mục tiêu Kiểm thử mô tả"/>
          <p:cNvSpPr txBox="1"/>
          <p:nvPr/>
        </p:nvSpPr>
        <p:spPr>
          <a:xfrm>
            <a:off x="6060412" y="3736731"/>
            <a:ext cx="2568610" cy="753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hệ thống ổn định, an toàn và đáp ứng yêu cầu chất lượng</a:t>
            </a:r>
            <a:endParaRPr lang="en-US" sz="1400" dirty="0"/>
          </a:p>
        </p:txBody>
      </p:sp>
      <p:sp>
        <p:nvSpPr>
          <p:cNvPr id="13" name="Dải xanh"/>
          <p:cNvSpPr/>
          <p:nvPr/>
        </p:nvSpPr>
        <p:spPr>
          <a:xfrm>
            <a:off x="0" y="4628522"/>
            <a:ext cx="9144000" cy="51497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hối tối"/>
          <p:cNvSpPr/>
          <p:nvPr/>
        </p:nvSpPr>
        <p:spPr>
          <a:xfrm>
            <a:off x="0" y="3749291"/>
            <a:ext cx="4308231" cy="1394209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Dải tối"/>
          <p:cNvSpPr/>
          <p:nvPr/>
        </p:nvSpPr>
        <p:spPr>
          <a:xfrm>
            <a:off x="4308231" y="4628522"/>
            <a:ext cx="4835769" cy="51497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Khối xanh"/>
          <p:cNvSpPr/>
          <p:nvPr/>
        </p:nvSpPr>
        <p:spPr>
          <a:xfrm>
            <a:off x="4308231" y="1061357"/>
            <a:ext cx="4835769" cy="3567165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Ảnh đầu" descr="/home/claude/work/img/i-007-01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08231" y="0"/>
            <a:ext cx="4835769" cy="1061357"/>
          </a:xfrm>
          <a:prstGeom prst="rect">
            <a:avLst/>
          </a:prstGeom>
        </p:spPr>
      </p:pic>
      <p:sp>
        <p:nvSpPr>
          <p:cNvPr id="6" name="Tiêu đề"/>
          <p:cNvSpPr txBox="1"/>
          <p:nvPr/>
        </p:nvSpPr>
        <p:spPr>
          <a:xfrm>
            <a:off x="910632" y="942033"/>
            <a:ext cx="3265714" cy="1884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Kiện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Chấp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Thuận</a:t>
            </a:r>
            <a:endParaRPr lang="en-US" sz="4400" dirty="0"/>
          </a:p>
        </p:txBody>
      </p:sp>
      <p:sp>
        <p:nvSpPr>
          <p:cNvPr id="7" name="Đường kẻ"/>
          <p:cNvSpPr/>
          <p:nvPr/>
        </p:nvSpPr>
        <p:spPr>
          <a:xfrm>
            <a:off x="785027" y="2983104"/>
            <a:ext cx="2932863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ấu tích 1"/>
          <p:cNvSpPr txBox="1"/>
          <p:nvPr/>
        </p:nvSpPr>
        <p:spPr>
          <a:xfrm>
            <a:off x="4867170" y="1444451"/>
            <a:ext cx="439615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accent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4000" dirty="0"/>
          </a:p>
        </p:txBody>
      </p:sp>
      <p:sp>
        <p:nvSpPr>
          <p:cNvPr id="9" name="Số 1"/>
          <p:cNvSpPr txBox="1"/>
          <p:nvPr/>
        </p:nvSpPr>
        <p:spPr>
          <a:xfrm>
            <a:off x="5507753" y="1444451"/>
            <a:ext cx="628022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Điều kiện 1"/>
          <p:cNvSpPr txBox="1"/>
          <p:nvPr/>
        </p:nvSpPr>
        <p:spPr>
          <a:xfrm>
            <a:off x="6217418" y="1507253"/>
            <a:ext cx="2763297" cy="314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toàn bộ test case</a:t>
            </a:r>
            <a:endParaRPr lang="en-US" sz="1400" dirty="0"/>
          </a:p>
        </p:txBody>
      </p:sp>
      <p:sp>
        <p:nvSpPr>
          <p:cNvPr id="11" name="Dấu tích 2"/>
          <p:cNvSpPr txBox="1"/>
          <p:nvPr/>
        </p:nvSpPr>
        <p:spPr>
          <a:xfrm>
            <a:off x="4867170" y="2028511"/>
            <a:ext cx="439615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accent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4000" dirty="0"/>
          </a:p>
        </p:txBody>
      </p:sp>
      <p:sp>
        <p:nvSpPr>
          <p:cNvPr id="12" name="Số 2"/>
          <p:cNvSpPr txBox="1"/>
          <p:nvPr/>
        </p:nvSpPr>
        <p:spPr>
          <a:xfrm>
            <a:off x="5507753" y="2028511"/>
            <a:ext cx="628022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Điều kiện 2"/>
          <p:cNvSpPr txBox="1"/>
          <p:nvPr/>
        </p:nvSpPr>
        <p:spPr>
          <a:xfrm>
            <a:off x="6217418" y="2091313"/>
            <a:ext cx="2763297" cy="314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ổn định trên nhiều trình duyệt</a:t>
            </a:r>
            <a:endParaRPr lang="en-US" sz="1400" dirty="0"/>
          </a:p>
        </p:txBody>
      </p:sp>
      <p:sp>
        <p:nvSpPr>
          <p:cNvPr id="14" name="Dấu tích 3"/>
          <p:cNvSpPr txBox="1"/>
          <p:nvPr/>
        </p:nvSpPr>
        <p:spPr>
          <a:xfrm>
            <a:off x="4867170" y="2618852"/>
            <a:ext cx="439615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accent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4000" dirty="0"/>
          </a:p>
        </p:txBody>
      </p:sp>
      <p:sp>
        <p:nvSpPr>
          <p:cNvPr id="15" name="Số 3"/>
          <p:cNvSpPr txBox="1"/>
          <p:nvPr/>
        </p:nvSpPr>
        <p:spPr>
          <a:xfrm>
            <a:off x="5507753" y="2618852"/>
            <a:ext cx="628022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Điều kiện 3"/>
          <p:cNvSpPr txBox="1"/>
          <p:nvPr/>
        </p:nvSpPr>
        <p:spPr>
          <a:xfrm>
            <a:off x="6217418" y="2681654"/>
            <a:ext cx="2763297" cy="314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bảo mật dữ liệu</a:t>
            </a:r>
            <a:endParaRPr lang="en-US" sz="1400" dirty="0"/>
          </a:p>
        </p:txBody>
      </p:sp>
      <p:sp>
        <p:nvSpPr>
          <p:cNvPr id="17" name="Dấu tích 4"/>
          <p:cNvSpPr txBox="1"/>
          <p:nvPr/>
        </p:nvSpPr>
        <p:spPr>
          <a:xfrm>
            <a:off x="4867170" y="3202912"/>
            <a:ext cx="439615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accent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4000" dirty="0"/>
          </a:p>
        </p:txBody>
      </p:sp>
      <p:sp>
        <p:nvSpPr>
          <p:cNvPr id="18" name="Số 4"/>
          <p:cNvSpPr txBox="1"/>
          <p:nvPr/>
        </p:nvSpPr>
        <p:spPr>
          <a:xfrm>
            <a:off x="5507753" y="3202912"/>
            <a:ext cx="628022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Điều kiện 4"/>
          <p:cNvSpPr txBox="1"/>
          <p:nvPr/>
        </p:nvSpPr>
        <p:spPr>
          <a:xfrm>
            <a:off x="6217418" y="3265714"/>
            <a:ext cx="2763297" cy="314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bảo trì &amp; nâng cấp</a:t>
            </a:r>
            <a:endParaRPr lang="en-US" sz="1400" dirty="0"/>
          </a:p>
        </p:txBody>
      </p:sp>
      <p:sp>
        <p:nvSpPr>
          <p:cNvPr id="20" name="Dấu tích 5"/>
          <p:cNvSpPr txBox="1"/>
          <p:nvPr/>
        </p:nvSpPr>
        <p:spPr>
          <a:xfrm>
            <a:off x="4867170" y="3793253"/>
            <a:ext cx="439615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accent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4000" dirty="0"/>
          </a:p>
        </p:txBody>
      </p:sp>
      <p:sp>
        <p:nvSpPr>
          <p:cNvPr id="21" name="Số 5"/>
          <p:cNvSpPr txBox="1"/>
          <p:nvPr/>
        </p:nvSpPr>
        <p:spPr>
          <a:xfrm>
            <a:off x="5507753" y="3793253"/>
            <a:ext cx="628022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000" dirty="0"/>
          </a:p>
        </p:txBody>
      </p:sp>
      <p:sp>
        <p:nvSpPr>
          <p:cNvPr id="22" name="Điều kiện 5"/>
          <p:cNvSpPr txBox="1"/>
          <p:nvPr/>
        </p:nvSpPr>
        <p:spPr>
          <a:xfrm>
            <a:off x="6217418" y="3856055"/>
            <a:ext cx="2763297" cy="314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dụng cao (High Availability)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Ảnh lập trình" descr="/home/claude/work/img/i-008-0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8698" y="0"/>
            <a:ext cx="3271995" cy="4107264"/>
          </a:xfrm>
          <a:prstGeom prst="rect">
            <a:avLst/>
          </a:prstGeom>
        </p:spPr>
      </p:pic>
      <p:sp>
        <p:nvSpPr>
          <p:cNvPr id="3" name="Khối xanh nhỏ"/>
          <p:cNvSpPr/>
          <p:nvPr/>
        </p:nvSpPr>
        <p:spPr>
          <a:xfrm>
            <a:off x="3385038" y="954593"/>
            <a:ext cx="778747" cy="759907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Dải xanh"/>
          <p:cNvSpPr/>
          <p:nvPr/>
        </p:nvSpPr>
        <p:spPr>
          <a:xfrm>
            <a:off x="508698" y="4628522"/>
            <a:ext cx="3271995" cy="51497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êu đề"/>
          <p:cNvSpPr txBox="1"/>
          <p:nvPr/>
        </p:nvSpPr>
        <p:spPr>
          <a:xfrm>
            <a:off x="4741566" y="879231"/>
            <a:ext cx="3642527" cy="119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4400" dirty="0"/>
          </a:p>
        </p:txBody>
      </p:sp>
      <p:sp>
        <p:nvSpPr>
          <p:cNvPr id="6" name="Mức 1 số"/>
          <p:cNvSpPr txBox="1"/>
          <p:nvPr/>
        </p:nvSpPr>
        <p:spPr>
          <a:xfrm>
            <a:off x="4741566" y="2355082"/>
            <a:ext cx="847830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Mức 1 nội dung"/>
          <p:cNvSpPr txBox="1"/>
          <p:nvPr/>
        </p:nvSpPr>
        <p:spPr>
          <a:xfrm>
            <a:off x="5652198" y="2323681"/>
            <a:ext cx="2763297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Cao: Không đăng nhập được, không tính thuế được</a:t>
            </a:r>
            <a:endParaRPr lang="en-US" sz="1600" dirty="0"/>
          </a:p>
        </p:txBody>
      </p:sp>
      <p:sp>
        <p:nvSpPr>
          <p:cNvPr id="8" name="Mức 2 số"/>
          <p:cNvSpPr txBox="1"/>
          <p:nvPr/>
        </p:nvSpPr>
        <p:spPr>
          <a:xfrm>
            <a:off x="4741566" y="2995665"/>
            <a:ext cx="847830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Mức 2 nội dung"/>
          <p:cNvSpPr txBox="1"/>
          <p:nvPr/>
        </p:nvSpPr>
        <p:spPr>
          <a:xfrm>
            <a:off x="5652198" y="2964264"/>
            <a:ext cx="2763297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bình: Sai thông tin cá nhân</a:t>
            </a:r>
            <a:endParaRPr lang="en-US" sz="1600" dirty="0"/>
          </a:p>
        </p:txBody>
      </p:sp>
      <p:sp>
        <p:nvSpPr>
          <p:cNvPr id="10" name="Mức 3 số"/>
          <p:cNvSpPr txBox="1"/>
          <p:nvPr/>
        </p:nvSpPr>
        <p:spPr>
          <a:xfrm>
            <a:off x="4741566" y="3623687"/>
            <a:ext cx="847830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Mức 3 nội dung"/>
          <p:cNvSpPr txBox="1"/>
          <p:nvPr/>
        </p:nvSpPr>
        <p:spPr>
          <a:xfrm>
            <a:off x="5652198" y="3592286"/>
            <a:ext cx="2763297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Thấp: Lỗi giao diện</a:t>
            </a:r>
            <a:endParaRPr lang="en-US" sz="1600" dirty="0"/>
          </a:p>
        </p:txBody>
      </p:sp>
      <p:sp>
        <p:nvSpPr>
          <p:cNvPr id="12" name="Đường kẻ"/>
          <p:cNvSpPr/>
          <p:nvPr/>
        </p:nvSpPr>
        <p:spPr>
          <a:xfrm>
            <a:off x="8635302" y="2292280"/>
            <a:ext cx="0" cy="1808703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ải tối"/>
          <p:cNvSpPr/>
          <p:nvPr/>
        </p:nvSpPr>
        <p:spPr>
          <a:xfrm>
            <a:off x="0" y="514978"/>
            <a:ext cx="514978" cy="2405324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hối tiêu đề"/>
          <p:cNvSpPr/>
          <p:nvPr/>
        </p:nvSpPr>
        <p:spPr>
          <a:xfrm>
            <a:off x="514978" y="514978"/>
            <a:ext cx="4057022" cy="240532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iêu đề"/>
          <p:cNvSpPr txBox="1"/>
          <p:nvPr/>
        </p:nvSpPr>
        <p:spPr>
          <a:xfrm>
            <a:off x="1004835" y="1004835"/>
            <a:ext cx="3391319" cy="144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lỗi</a:t>
            </a:r>
            <a:endParaRPr lang="en-US" sz="4400" dirty="0"/>
          </a:p>
        </p:txBody>
      </p:sp>
      <p:sp>
        <p:nvSpPr>
          <p:cNvPr id="5" name="Số 1"/>
          <p:cNvSpPr txBox="1"/>
          <p:nvPr/>
        </p:nvSpPr>
        <p:spPr>
          <a:xfrm>
            <a:off x="5306786" y="816429"/>
            <a:ext cx="565220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Bước 1"/>
          <p:cNvSpPr txBox="1"/>
          <p:nvPr/>
        </p:nvSpPr>
        <p:spPr>
          <a:xfrm>
            <a:off x="5934808" y="816429"/>
            <a:ext cx="3014505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lỗi</a:t>
            </a:r>
            <a:endParaRPr lang="en-US" sz="2200" dirty="0"/>
          </a:p>
        </p:txBody>
      </p:sp>
      <p:sp>
        <p:nvSpPr>
          <p:cNvPr id="7" name="Số 2"/>
          <p:cNvSpPr txBox="1"/>
          <p:nvPr/>
        </p:nvSpPr>
        <p:spPr>
          <a:xfrm>
            <a:off x="5306786" y="1249764"/>
            <a:ext cx="565220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Bước 2"/>
          <p:cNvSpPr txBox="1"/>
          <p:nvPr/>
        </p:nvSpPr>
        <p:spPr>
          <a:xfrm>
            <a:off x="5934808" y="1249764"/>
            <a:ext cx="3014505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lỗi</a:t>
            </a:r>
            <a:endParaRPr lang="en-US" sz="2200" dirty="0"/>
          </a:p>
        </p:txBody>
      </p:sp>
      <p:sp>
        <p:nvSpPr>
          <p:cNvPr id="9" name="Số 3"/>
          <p:cNvSpPr txBox="1"/>
          <p:nvPr/>
        </p:nvSpPr>
        <p:spPr>
          <a:xfrm>
            <a:off x="5306786" y="1676819"/>
            <a:ext cx="565220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Bước 3"/>
          <p:cNvSpPr txBox="1"/>
          <p:nvPr/>
        </p:nvSpPr>
        <p:spPr>
          <a:xfrm>
            <a:off x="5934808" y="1676819"/>
            <a:ext cx="3014505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 xử lý</a:t>
            </a:r>
            <a:endParaRPr lang="en-US" sz="2200" dirty="0"/>
          </a:p>
        </p:txBody>
      </p:sp>
      <p:sp>
        <p:nvSpPr>
          <p:cNvPr id="11" name="Số 4"/>
          <p:cNvSpPr txBox="1"/>
          <p:nvPr/>
        </p:nvSpPr>
        <p:spPr>
          <a:xfrm>
            <a:off x="5306786" y="2110154"/>
            <a:ext cx="565220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2" name="Bước 4"/>
          <p:cNvSpPr txBox="1"/>
          <p:nvPr/>
        </p:nvSpPr>
        <p:spPr>
          <a:xfrm>
            <a:off x="5934808" y="2110154"/>
            <a:ext cx="3014505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lỗi</a:t>
            </a:r>
            <a:endParaRPr lang="en-US" sz="2200" dirty="0"/>
          </a:p>
        </p:txBody>
      </p:sp>
      <p:sp>
        <p:nvSpPr>
          <p:cNvPr id="13" name="Số 5"/>
          <p:cNvSpPr txBox="1"/>
          <p:nvPr/>
        </p:nvSpPr>
        <p:spPr>
          <a:xfrm>
            <a:off x="5306786" y="2537209"/>
            <a:ext cx="565220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14" name="Bước 5"/>
          <p:cNvSpPr txBox="1"/>
          <p:nvPr/>
        </p:nvSpPr>
        <p:spPr>
          <a:xfrm>
            <a:off x="5934808" y="2537209"/>
            <a:ext cx="3014505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lại</a:t>
            </a:r>
            <a:endParaRPr lang="en-US" sz="2200" dirty="0"/>
          </a:p>
        </p:txBody>
      </p:sp>
      <p:sp>
        <p:nvSpPr>
          <p:cNvPr id="15" name="Số 6"/>
          <p:cNvSpPr txBox="1"/>
          <p:nvPr/>
        </p:nvSpPr>
        <p:spPr>
          <a:xfrm>
            <a:off x="5306786" y="2964264"/>
            <a:ext cx="565220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16" name="Bước 6"/>
          <p:cNvSpPr txBox="1"/>
          <p:nvPr/>
        </p:nvSpPr>
        <p:spPr>
          <a:xfrm>
            <a:off x="5934808" y="2964264"/>
            <a:ext cx="3014505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&amp; Đánh giá</a:t>
            </a:r>
            <a:endParaRPr lang="en-US" sz="2200" dirty="0"/>
          </a:p>
        </p:txBody>
      </p:sp>
      <p:pic>
        <p:nvPicPr>
          <p:cNvPr id="17" name="Ảnh quản lý lỗi" descr="/home/claude/work/img/i-009-0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100984"/>
            <a:ext cx="9144000" cy="10425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"/>
          <p:cNvSpPr txBox="1"/>
          <p:nvPr/>
        </p:nvSpPr>
        <p:spPr>
          <a:xfrm>
            <a:off x="910632" y="596621"/>
            <a:ext cx="4898571" cy="565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Đăng Nhập</a:t>
            </a:r>
            <a:endParaRPr lang="en-US" sz="3200" dirty="0"/>
          </a:p>
        </p:txBody>
      </p:sp>
      <p:sp>
        <p:nvSpPr>
          <p:cNvPr id="3" name="Đường kẻ"/>
          <p:cNvSpPr/>
          <p:nvPr/>
        </p:nvSpPr>
        <p:spPr>
          <a:xfrm>
            <a:off x="514978" y="1727060"/>
            <a:ext cx="0" cy="2474407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Ảnh đăng nhập" descr="/home/claude/work/img/i-010-0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78286" y="0"/>
            <a:ext cx="3265714" cy="4628522"/>
          </a:xfrm>
          <a:prstGeom prst="rect">
            <a:avLst/>
          </a:prstGeom>
        </p:spPr>
      </p:pic>
      <p:sp>
        <p:nvSpPr>
          <p:cNvPr id="5" name="Dải xanh"/>
          <p:cNvSpPr/>
          <p:nvPr/>
        </p:nvSpPr>
        <p:spPr>
          <a:xfrm>
            <a:off x="0" y="4628522"/>
            <a:ext cx="5878286" cy="51497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C001"/>
          <p:cNvSpPr txBox="1"/>
          <p:nvPr/>
        </p:nvSpPr>
        <p:spPr>
          <a:xfrm>
            <a:off x="910632" y="1664258"/>
            <a:ext cx="910632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TC001</a:t>
            </a:r>
            <a:endParaRPr lang="en-US" sz="2200" dirty="0"/>
          </a:p>
        </p:txBody>
      </p:sp>
      <p:sp>
        <p:nvSpPr>
          <p:cNvPr id="7" name="TC001 mô tả"/>
          <p:cNvSpPr txBox="1"/>
          <p:nvPr/>
        </p:nvSpPr>
        <p:spPr>
          <a:xfrm>
            <a:off x="1840104" y="1601456"/>
            <a:ext cx="2763297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trống dữ liệu → Hệ thống hiển thị thông báo lỗi</a:t>
            </a:r>
            <a:endParaRPr lang="en-US" sz="1600" dirty="0"/>
          </a:p>
        </p:txBody>
      </p:sp>
      <p:sp>
        <p:nvSpPr>
          <p:cNvPr id="8" name="TC004"/>
          <p:cNvSpPr txBox="1"/>
          <p:nvPr/>
        </p:nvSpPr>
        <p:spPr>
          <a:xfrm>
            <a:off x="910632" y="2323681"/>
            <a:ext cx="910632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TC004</a:t>
            </a:r>
            <a:endParaRPr lang="en-US" sz="2200" dirty="0"/>
          </a:p>
        </p:txBody>
      </p:sp>
      <p:sp>
        <p:nvSpPr>
          <p:cNvPr id="9" name="TC004 mô tả"/>
          <p:cNvSpPr txBox="1"/>
          <p:nvPr/>
        </p:nvSpPr>
        <p:spPr>
          <a:xfrm>
            <a:off x="1840104" y="2260879"/>
            <a:ext cx="2763297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tài khoản → Thông báo tài khoản không tồn tại</a:t>
            </a:r>
            <a:endParaRPr lang="en-US" sz="1600" dirty="0"/>
          </a:p>
        </p:txBody>
      </p:sp>
      <p:sp>
        <p:nvSpPr>
          <p:cNvPr id="10" name="TC005"/>
          <p:cNvSpPr txBox="1"/>
          <p:nvPr/>
        </p:nvSpPr>
        <p:spPr>
          <a:xfrm>
            <a:off x="910632" y="2983104"/>
            <a:ext cx="910632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TC005</a:t>
            </a:r>
            <a:endParaRPr lang="en-US" sz="2200" dirty="0"/>
          </a:p>
        </p:txBody>
      </p:sp>
      <p:sp>
        <p:nvSpPr>
          <p:cNvPr id="11" name="TC005 mô tả"/>
          <p:cNvSpPr txBox="1"/>
          <p:nvPr/>
        </p:nvSpPr>
        <p:spPr>
          <a:xfrm>
            <a:off x="1840104" y="2920302"/>
            <a:ext cx="2763297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mật khẩu → Thông báo mật khẩu không đúng</a:t>
            </a:r>
            <a:endParaRPr lang="en-US" sz="1600" dirty="0"/>
          </a:p>
        </p:txBody>
      </p:sp>
      <p:sp>
        <p:nvSpPr>
          <p:cNvPr id="12" name="TC006"/>
          <p:cNvSpPr txBox="1"/>
          <p:nvPr/>
        </p:nvSpPr>
        <p:spPr>
          <a:xfrm>
            <a:off x="910632" y="3642527"/>
            <a:ext cx="910632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TC006</a:t>
            </a:r>
            <a:endParaRPr lang="en-US" sz="2200" dirty="0"/>
          </a:p>
        </p:txBody>
      </p:sp>
      <p:sp>
        <p:nvSpPr>
          <p:cNvPr id="13" name="TC006 mô tả"/>
          <p:cNvSpPr txBox="1"/>
          <p:nvPr/>
        </p:nvSpPr>
        <p:spPr>
          <a:xfrm>
            <a:off x="1840104" y="3579725"/>
            <a:ext cx="2763297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thành công → Chuyển đến trang chủ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ảng TC001" descr="/home/claude/work/img/i-011-01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07736" y="0"/>
            <a:ext cx="6041571" cy="2392764"/>
          </a:xfrm>
          <a:prstGeom prst="rect">
            <a:avLst/>
          </a:prstGeom>
        </p:spPr>
      </p:pic>
      <p:pic>
        <p:nvPicPr>
          <p:cNvPr id="3" name="Bảng TC005" descr="/home/claude/work/img/i-011-0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07736" y="2568610"/>
            <a:ext cx="6041571" cy="18652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"/>
          <p:cNvSpPr txBox="1"/>
          <p:nvPr/>
        </p:nvSpPr>
        <p:spPr>
          <a:xfrm>
            <a:off x="910632" y="596621"/>
            <a:ext cx="4898571" cy="565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Tính Thử Thuế</a:t>
            </a:r>
            <a:endParaRPr lang="en-US" sz="3200" dirty="0"/>
          </a:p>
        </p:txBody>
      </p:sp>
      <p:sp>
        <p:nvSpPr>
          <p:cNvPr id="3" name="Đường kẻ"/>
          <p:cNvSpPr/>
          <p:nvPr/>
        </p:nvSpPr>
        <p:spPr>
          <a:xfrm>
            <a:off x="514978" y="1727060"/>
            <a:ext cx="0" cy="2474407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Ảnh tính thuế" descr="/home/claude/work/img/i-012-02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78286" y="0"/>
            <a:ext cx="3265714" cy="4628522"/>
          </a:xfrm>
          <a:prstGeom prst="rect">
            <a:avLst/>
          </a:prstGeom>
        </p:spPr>
      </p:pic>
      <p:sp>
        <p:nvSpPr>
          <p:cNvPr id="5" name="Dải xanh"/>
          <p:cNvSpPr/>
          <p:nvPr/>
        </p:nvSpPr>
        <p:spPr>
          <a:xfrm>
            <a:off x="0" y="4628522"/>
            <a:ext cx="5878286" cy="51497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Mục 1 số"/>
          <p:cNvSpPr txBox="1"/>
          <p:nvPr/>
        </p:nvSpPr>
        <p:spPr>
          <a:xfrm>
            <a:off x="910632" y="1632857"/>
            <a:ext cx="866670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Mục 1 nội dung"/>
          <p:cNvSpPr txBox="1"/>
          <p:nvPr/>
        </p:nvSpPr>
        <p:spPr>
          <a:xfrm>
            <a:off x="1840104" y="1664258"/>
            <a:ext cx="3516923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dữ liệu đầu vào</a:t>
            </a:r>
            <a:endParaRPr lang="en-US" sz="1600" dirty="0"/>
          </a:p>
        </p:txBody>
      </p:sp>
      <p:sp>
        <p:nvSpPr>
          <p:cNvPr id="8" name="Mục 2 số"/>
          <p:cNvSpPr txBox="1"/>
          <p:nvPr/>
        </p:nvSpPr>
        <p:spPr>
          <a:xfrm>
            <a:off x="910632" y="2292280"/>
            <a:ext cx="866670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Mục 2 nội dung"/>
          <p:cNvSpPr txBox="1"/>
          <p:nvPr/>
        </p:nvSpPr>
        <p:spPr>
          <a:xfrm>
            <a:off x="1840104" y="2323681"/>
            <a:ext cx="3516923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hợp lệ – kết quả đúng</a:t>
            </a:r>
            <a:endParaRPr lang="en-US" sz="1600" dirty="0"/>
          </a:p>
        </p:txBody>
      </p:sp>
      <p:sp>
        <p:nvSpPr>
          <p:cNvPr id="10" name="Mục 3 số"/>
          <p:cNvSpPr txBox="1"/>
          <p:nvPr/>
        </p:nvSpPr>
        <p:spPr>
          <a:xfrm>
            <a:off x="910632" y="2951703"/>
            <a:ext cx="866670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Mục 3 nội dung"/>
          <p:cNvSpPr txBox="1"/>
          <p:nvPr/>
        </p:nvSpPr>
        <p:spPr>
          <a:xfrm>
            <a:off x="1840104" y="2983104"/>
            <a:ext cx="3516923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Testing – giá trị biên</a:t>
            </a:r>
            <a:endParaRPr lang="en-US" sz="1600" dirty="0"/>
          </a:p>
        </p:txBody>
      </p:sp>
      <p:sp>
        <p:nvSpPr>
          <p:cNvPr id="12" name="Mục 4 số"/>
          <p:cNvSpPr txBox="1"/>
          <p:nvPr/>
        </p:nvSpPr>
        <p:spPr>
          <a:xfrm>
            <a:off x="910632" y="3611126"/>
            <a:ext cx="866670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Mục 4 nội dung"/>
          <p:cNvSpPr txBox="1"/>
          <p:nvPr/>
        </p:nvSpPr>
        <p:spPr>
          <a:xfrm>
            <a:off x="1840104" y="3642527"/>
            <a:ext cx="3516923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thuế từ 5% đến 35%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Đường kẻ"/>
          <p:cNvSpPr/>
          <p:nvPr/>
        </p:nvSpPr>
        <p:spPr>
          <a:xfrm>
            <a:off x="514978" y="879231"/>
            <a:ext cx="0" cy="2072473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iêu đề"/>
          <p:cNvSpPr txBox="1"/>
          <p:nvPr/>
        </p:nvSpPr>
        <p:spPr>
          <a:xfrm>
            <a:off x="910632" y="879231"/>
            <a:ext cx="2637692" cy="2888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Diện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</a:t>
            </a:r>
            <a:endParaRPr lang="en-US" sz="4400" dirty="0"/>
          </a:p>
        </p:txBody>
      </p:sp>
      <p:pic>
        <p:nvPicPr>
          <p:cNvPr id="4" name="Đăng nhập" descr="/home/claude/work/img/i-013-02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9775" y="847830"/>
            <a:ext cx="2116434" cy="1588896"/>
          </a:xfrm>
          <a:prstGeom prst="rect">
            <a:avLst/>
          </a:prstGeom>
        </p:spPr>
      </p:pic>
      <p:pic>
        <p:nvPicPr>
          <p:cNvPr id="5" name="Thông tin cá nhân" descr="/home/claude/work/img/i-013-02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18868" y="847830"/>
            <a:ext cx="2116434" cy="1588896"/>
          </a:xfrm>
          <a:prstGeom prst="rect">
            <a:avLst/>
          </a:prstGeom>
        </p:spPr>
      </p:pic>
      <p:pic>
        <p:nvPicPr>
          <p:cNvPr id="6" name="Tính thử thuế" descr="/home/claude/work/img/i-013-02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49775" y="2562330"/>
            <a:ext cx="2116434" cy="1588896"/>
          </a:xfrm>
          <a:prstGeom prst="rect">
            <a:avLst/>
          </a:prstGeom>
        </p:spPr>
      </p:pic>
      <p:pic>
        <p:nvPicPr>
          <p:cNvPr id="7" name="Quản lý nhân viên" descr="/home/claude/work/img/i-013-025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18868" y="2562330"/>
            <a:ext cx="2116434" cy="1588896"/>
          </a:xfrm>
          <a:prstGeom prst="rect">
            <a:avLst/>
          </a:prstGeom>
        </p:spPr>
      </p:pic>
      <p:sp>
        <p:nvSpPr>
          <p:cNvPr id="8" name="Nhãn Đăng nhập nền"/>
          <p:cNvSpPr/>
          <p:nvPr/>
        </p:nvSpPr>
        <p:spPr>
          <a:xfrm>
            <a:off x="3491802" y="1978269"/>
            <a:ext cx="1783582" cy="50241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Nhãn Đăng nhập"/>
          <p:cNvSpPr txBox="1"/>
          <p:nvPr/>
        </p:nvSpPr>
        <p:spPr>
          <a:xfrm>
            <a:off x="3491802" y="1978269"/>
            <a:ext cx="1783582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</a:t>
            </a:r>
            <a:endParaRPr lang="en-US" sz="2000" dirty="0"/>
          </a:p>
        </p:txBody>
      </p:sp>
      <p:sp>
        <p:nvSpPr>
          <p:cNvPr id="10" name="Nhãn Thông tin cá nhân nền"/>
          <p:cNvSpPr/>
          <p:nvPr/>
        </p:nvSpPr>
        <p:spPr>
          <a:xfrm>
            <a:off x="6186016" y="1978269"/>
            <a:ext cx="2009670" cy="50241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Nhãn Thông tin cá nhân"/>
          <p:cNvSpPr txBox="1"/>
          <p:nvPr/>
        </p:nvSpPr>
        <p:spPr>
          <a:xfrm>
            <a:off x="6186016" y="1978269"/>
            <a:ext cx="2009670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Cá Nhân</a:t>
            </a:r>
            <a:endParaRPr lang="en-US" sz="1800" dirty="0"/>
          </a:p>
        </p:txBody>
      </p:sp>
      <p:sp>
        <p:nvSpPr>
          <p:cNvPr id="12" name="Nhãn Tính thử thuế nền"/>
          <p:cNvSpPr/>
          <p:nvPr/>
        </p:nvSpPr>
        <p:spPr>
          <a:xfrm>
            <a:off x="3491802" y="3856055"/>
            <a:ext cx="1783582" cy="50241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Nhãn Tính thử thuế"/>
          <p:cNvSpPr txBox="1"/>
          <p:nvPr/>
        </p:nvSpPr>
        <p:spPr>
          <a:xfrm>
            <a:off x="3491802" y="3856055"/>
            <a:ext cx="1783582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Thử Thuế</a:t>
            </a:r>
            <a:endParaRPr lang="en-US" sz="2000" dirty="0"/>
          </a:p>
        </p:txBody>
      </p:sp>
      <p:sp>
        <p:nvSpPr>
          <p:cNvPr id="14" name="Nhãn Quản lý nhân viên nền"/>
          <p:cNvSpPr/>
          <p:nvPr/>
        </p:nvSpPr>
        <p:spPr>
          <a:xfrm>
            <a:off x="6029011" y="3780692"/>
            <a:ext cx="2009670" cy="50241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Nhãn Quản lý nhân viên"/>
          <p:cNvSpPr txBox="1"/>
          <p:nvPr/>
        </p:nvSpPr>
        <p:spPr>
          <a:xfrm>
            <a:off x="6029011" y="3780692"/>
            <a:ext cx="2009670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Nhân Viên</a:t>
            </a:r>
            <a:endParaRPr lang="en-US" sz="1800" dirty="0"/>
          </a:p>
        </p:txBody>
      </p:sp>
      <p:sp>
        <p:nvSpPr>
          <p:cNvPr id="16" name="Dải tối"/>
          <p:cNvSpPr/>
          <p:nvPr/>
        </p:nvSpPr>
        <p:spPr>
          <a:xfrm>
            <a:off x="514978" y="4603401"/>
            <a:ext cx="8114044" cy="540099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hối tối"/>
          <p:cNvSpPr/>
          <p:nvPr/>
        </p:nvSpPr>
        <p:spPr>
          <a:xfrm>
            <a:off x="0" y="3749291"/>
            <a:ext cx="4308231" cy="1394209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Dải tối"/>
          <p:cNvSpPr/>
          <p:nvPr/>
        </p:nvSpPr>
        <p:spPr>
          <a:xfrm>
            <a:off x="4308231" y="4628522"/>
            <a:ext cx="4835769" cy="51497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Khối xanh"/>
          <p:cNvSpPr/>
          <p:nvPr/>
        </p:nvSpPr>
        <p:spPr>
          <a:xfrm>
            <a:off x="4308231" y="1061357"/>
            <a:ext cx="4835769" cy="3567165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Ảnh đầu" descr="/home/claude/work/img/i-014-02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08231" y="0"/>
            <a:ext cx="4835769" cy="1061357"/>
          </a:xfrm>
          <a:prstGeom prst="rect">
            <a:avLst/>
          </a:prstGeom>
        </p:spPr>
      </p:pic>
      <p:sp>
        <p:nvSpPr>
          <p:cNvPr id="6" name="Tiêu đề"/>
          <p:cNvSpPr txBox="1"/>
          <p:nvPr/>
        </p:nvSpPr>
        <p:spPr>
          <a:xfrm>
            <a:off x="910632" y="942033"/>
            <a:ext cx="3265714" cy="1884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44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</a:t>
            </a:r>
            <a:endParaRPr lang="en-US" sz="4400" dirty="0"/>
          </a:p>
        </p:txBody>
      </p:sp>
      <p:sp>
        <p:nvSpPr>
          <p:cNvPr id="7" name="Đường kẻ"/>
          <p:cNvSpPr/>
          <p:nvPr/>
        </p:nvSpPr>
        <p:spPr>
          <a:xfrm>
            <a:off x="785027" y="2983104"/>
            <a:ext cx="2932863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hỉ số 1"/>
          <p:cNvSpPr txBox="1"/>
          <p:nvPr/>
        </p:nvSpPr>
        <p:spPr>
          <a:xfrm>
            <a:off x="4879731" y="1425610"/>
            <a:ext cx="1507253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9" name="Giá trị 1"/>
          <p:cNvSpPr txBox="1"/>
          <p:nvPr/>
        </p:nvSpPr>
        <p:spPr>
          <a:xfrm>
            <a:off x="6468626" y="1425610"/>
            <a:ext cx="2512088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Pass</a:t>
            </a:r>
            <a:endParaRPr lang="en-US" sz="1600" dirty="0"/>
          </a:p>
        </p:txBody>
      </p:sp>
      <p:sp>
        <p:nvSpPr>
          <p:cNvPr id="10" name="Chỉ số 2"/>
          <p:cNvSpPr txBox="1"/>
          <p:nvPr/>
        </p:nvSpPr>
        <p:spPr>
          <a:xfrm>
            <a:off x="4879731" y="2009670"/>
            <a:ext cx="1507253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400" dirty="0"/>
          </a:p>
        </p:txBody>
      </p:sp>
      <p:sp>
        <p:nvSpPr>
          <p:cNvPr id="11" name="Giá trị 2"/>
          <p:cNvSpPr txBox="1"/>
          <p:nvPr/>
        </p:nvSpPr>
        <p:spPr>
          <a:xfrm>
            <a:off x="6468626" y="2009670"/>
            <a:ext cx="2512088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Fail</a:t>
            </a:r>
            <a:endParaRPr lang="en-US" sz="1600" dirty="0"/>
          </a:p>
        </p:txBody>
      </p:sp>
      <p:sp>
        <p:nvSpPr>
          <p:cNvPr id="12" name="Chỉ số 3"/>
          <p:cNvSpPr txBox="1"/>
          <p:nvPr/>
        </p:nvSpPr>
        <p:spPr>
          <a:xfrm>
            <a:off x="4879731" y="2593731"/>
            <a:ext cx="1507253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2400" dirty="0"/>
          </a:p>
        </p:txBody>
      </p:sp>
      <p:sp>
        <p:nvSpPr>
          <p:cNvPr id="13" name="Giá trị 3"/>
          <p:cNvSpPr txBox="1"/>
          <p:nvPr/>
        </p:nvSpPr>
        <p:spPr>
          <a:xfrm>
            <a:off x="6468626" y="2593731"/>
            <a:ext cx="2512088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TC001 &amp; TC006</a:t>
            </a:r>
            <a:endParaRPr lang="en-US" sz="1600" dirty="0"/>
          </a:p>
        </p:txBody>
      </p:sp>
      <p:sp>
        <p:nvSpPr>
          <p:cNvPr id="14" name="Chỉ số 4"/>
          <p:cNvSpPr txBox="1"/>
          <p:nvPr/>
        </p:nvSpPr>
        <p:spPr>
          <a:xfrm>
            <a:off x="4879731" y="3177791"/>
            <a:ext cx="1507253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2400" dirty="0"/>
          </a:p>
        </p:txBody>
      </p:sp>
      <p:sp>
        <p:nvSpPr>
          <p:cNvPr id="15" name="Giá trị 4"/>
          <p:cNvSpPr txBox="1"/>
          <p:nvPr/>
        </p:nvSpPr>
        <p:spPr>
          <a:xfrm>
            <a:off x="6468626" y="3177791"/>
            <a:ext cx="2512088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UC1.2-TC004</a:t>
            </a:r>
            <a:endParaRPr lang="en-US" sz="1600" dirty="0"/>
          </a:p>
        </p:txBody>
      </p:sp>
      <p:sp>
        <p:nvSpPr>
          <p:cNvPr id="16" name="Chỉ số 5"/>
          <p:cNvSpPr txBox="1"/>
          <p:nvPr/>
        </p:nvSpPr>
        <p:spPr>
          <a:xfrm>
            <a:off x="4879731" y="3768132"/>
            <a:ext cx="1507253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xác</a:t>
            </a:r>
            <a:endParaRPr lang="en-US" sz="2400" dirty="0"/>
          </a:p>
        </p:txBody>
      </p:sp>
      <p:sp>
        <p:nvSpPr>
          <p:cNvPr id="17" name="Giá trị 5"/>
          <p:cNvSpPr txBox="1"/>
          <p:nvPr/>
        </p:nvSpPr>
        <p:spPr>
          <a:xfrm>
            <a:off x="6468626" y="3768132"/>
            <a:ext cx="2512088" cy="3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tính thuế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"/>
          <p:cNvSpPr txBox="1"/>
          <p:nvPr/>
        </p:nvSpPr>
        <p:spPr>
          <a:xfrm>
            <a:off x="910632" y="596621"/>
            <a:ext cx="4396154" cy="69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4400" dirty="0"/>
          </a:p>
        </p:txBody>
      </p:sp>
      <p:sp>
        <p:nvSpPr>
          <p:cNvPr id="3" name="Đường kẻ"/>
          <p:cNvSpPr/>
          <p:nvPr/>
        </p:nvSpPr>
        <p:spPr>
          <a:xfrm>
            <a:off x="514978" y="1727060"/>
            <a:ext cx="0" cy="2474407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Ảnh kết luận" descr="/home/claude/work/img/i-015-0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78286" y="0"/>
            <a:ext cx="3265714" cy="4628522"/>
          </a:xfrm>
          <a:prstGeom prst="rect">
            <a:avLst/>
          </a:prstGeom>
        </p:spPr>
      </p:pic>
      <p:sp>
        <p:nvSpPr>
          <p:cNvPr id="5" name="Khối xanh nhỏ"/>
          <p:cNvSpPr/>
          <p:nvPr/>
        </p:nvSpPr>
        <p:spPr>
          <a:xfrm>
            <a:off x="5400989" y="1526093"/>
            <a:ext cx="960874" cy="759907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Dải xanh"/>
          <p:cNvSpPr/>
          <p:nvPr/>
        </p:nvSpPr>
        <p:spPr>
          <a:xfrm>
            <a:off x="0" y="4628522"/>
            <a:ext cx="5878286" cy="51497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Kết luận 1 số"/>
          <p:cNvSpPr txBox="1"/>
          <p:nvPr/>
        </p:nvSpPr>
        <p:spPr>
          <a:xfrm>
            <a:off x="923192" y="1739621"/>
            <a:ext cx="854110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Kết luận 1 nội dung"/>
          <p:cNvSpPr txBox="1"/>
          <p:nvPr/>
        </p:nvSpPr>
        <p:spPr>
          <a:xfrm>
            <a:off x="1840104" y="1676819"/>
            <a:ext cx="3014505" cy="565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kế hoạch kiểm thử hoàn chỉnh</a:t>
            </a:r>
            <a:endParaRPr lang="en-US" sz="1600" dirty="0"/>
          </a:p>
        </p:txBody>
      </p:sp>
      <p:sp>
        <p:nvSpPr>
          <p:cNvPr id="9" name="Kết luận 2 số"/>
          <p:cNvSpPr txBox="1"/>
          <p:nvPr/>
        </p:nvSpPr>
        <p:spPr>
          <a:xfrm>
            <a:off x="923192" y="2405324"/>
            <a:ext cx="854110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Kết luận 2 nội dung"/>
          <p:cNvSpPr txBox="1"/>
          <p:nvPr/>
        </p:nvSpPr>
        <p:spPr>
          <a:xfrm>
            <a:off x="1840104" y="2342522"/>
            <a:ext cx="3014505" cy="565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test case đầy đủ và có hệ thống</a:t>
            </a:r>
            <a:endParaRPr lang="en-US" sz="1600" dirty="0"/>
          </a:p>
        </p:txBody>
      </p:sp>
      <p:sp>
        <p:nvSpPr>
          <p:cNvPr id="11" name="Kết luận 3 số"/>
          <p:cNvSpPr txBox="1"/>
          <p:nvPr/>
        </p:nvSpPr>
        <p:spPr>
          <a:xfrm>
            <a:off x="923192" y="3058467"/>
            <a:ext cx="854110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Kết luận 3 nội dung"/>
          <p:cNvSpPr txBox="1"/>
          <p:nvPr/>
        </p:nvSpPr>
        <p:spPr>
          <a:xfrm>
            <a:off x="1840104" y="2995665"/>
            <a:ext cx="3014505" cy="565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chất lượng phần mềm thành công</a:t>
            </a:r>
            <a:endParaRPr lang="en-US" sz="1600" dirty="0"/>
          </a:p>
        </p:txBody>
      </p:sp>
      <p:sp>
        <p:nvSpPr>
          <p:cNvPr id="13" name="Kết luận 4 số"/>
          <p:cNvSpPr txBox="1"/>
          <p:nvPr/>
        </p:nvSpPr>
        <p:spPr>
          <a:xfrm>
            <a:off x="923192" y="3724170"/>
            <a:ext cx="854110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Kết luận 4 nội dung"/>
          <p:cNvSpPr txBox="1"/>
          <p:nvPr/>
        </p:nvSpPr>
        <p:spPr>
          <a:xfrm>
            <a:off x="1840104" y="3661368"/>
            <a:ext cx="3014505" cy="565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mở rộng kiểm thử hiệu năng &amp; bảo mật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Ô góc"/>
          <p:cNvSpPr/>
          <p:nvPr/>
        </p:nvSpPr>
        <p:spPr>
          <a:xfrm>
            <a:off x="0" y="0"/>
            <a:ext cx="514978" cy="51497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êu đề"/>
          <p:cNvSpPr txBox="1"/>
          <p:nvPr/>
        </p:nvSpPr>
        <p:spPr>
          <a:xfrm>
            <a:off x="439615" y="1570055"/>
            <a:ext cx="4584560" cy="138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Ơn!</a:t>
            </a:r>
            <a:endParaRPr lang="en-US" sz="8000" dirty="0"/>
          </a:p>
        </p:txBody>
      </p:sp>
      <p:sp>
        <p:nvSpPr>
          <p:cNvPr id="4" name="Đường kẻ"/>
          <p:cNvSpPr/>
          <p:nvPr/>
        </p:nvSpPr>
        <p:spPr>
          <a:xfrm>
            <a:off x="797588" y="3510643"/>
            <a:ext cx="3385038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Ảnh hỏi đáp" descr="/home/claude/work/img/i-016-02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29973" y="508698"/>
            <a:ext cx="3699049" cy="3008225"/>
          </a:xfrm>
          <a:prstGeom prst="rect">
            <a:avLst/>
          </a:prstGeom>
        </p:spPr>
      </p:pic>
      <p:sp>
        <p:nvSpPr>
          <p:cNvPr id="6" name="Dải tối"/>
          <p:cNvSpPr/>
          <p:nvPr/>
        </p:nvSpPr>
        <p:spPr>
          <a:xfrm>
            <a:off x="8629022" y="508698"/>
            <a:ext cx="514978" cy="3008225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Dải xanh"/>
          <p:cNvSpPr/>
          <p:nvPr/>
        </p:nvSpPr>
        <p:spPr>
          <a:xfrm>
            <a:off x="514978" y="4628522"/>
            <a:ext cx="4421275" cy="51497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Lời cảm ơn"/>
          <p:cNvSpPr txBox="1"/>
          <p:nvPr/>
        </p:nvSpPr>
        <p:spPr>
          <a:xfrm>
            <a:off x="5149780" y="3830934"/>
            <a:ext cx="3391319" cy="69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quý thầy cô và các bạn đã lắng nghe!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- Phần hỏi đáp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NCN Deck">
  <a:themeElements>
    <a:clrScheme name="TNCN Deck">
      <a:dk1>
        <a:srgbClr val="2D2D2D"/>
      </a:dk1>
      <a:lt1>
        <a:srgbClr val="FFFFFF"/>
      </a:lt1>
      <a:dk2>
        <a:srgbClr val="2B3C6B"/>
      </a:dk2>
      <a:lt2>
        <a:srgbClr val="EAF1F8"/>
      </a:lt2>
      <a:accent1>
        <a:srgbClr val="2B3C6B"/>
      </a:accent1>
      <a:accent2>
        <a:srgbClr val="4F6B7D"/>
      </a:accent2>
      <a:accent3>
        <a:srgbClr val="0A84C7"/>
      </a:accent3>
      <a:accent4>
        <a:srgbClr val="7FB2EB"/>
      </a:accent4>
      <a:accent5>
        <a:srgbClr val="1C5B9E"/>
      </a:accent5>
      <a:accent6>
        <a:srgbClr val="9AA5B1"/>
      </a:accent6>
      <a:hlink>
        <a:srgbClr val="0A84C7"/>
      </a:hlink>
      <a:folHlink>
        <a:srgbClr val="4F6B7D"/>
      </a:folHlink>
    </a:clrScheme>
    <a:fontScheme name="TNCN Dec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On-screen Show (16:9)</PresentationFormat>
  <Paragraphs>151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 Symbol</vt:lpstr>
      <vt:lpstr>TNCN Deck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Đánh giá Phần mềm Tính thuế Thu nhập Cá nhân</dc:title>
  <dc:subject>PptxGenJS Presentation</dc:subject>
  <dc:creator>Hà Tiến Quang, Dương Thiện Hùng, Vũ Tiến Hưng</dc:creator>
  <cp:lastModifiedBy>Nguyen Thanh Long</cp:lastModifiedBy>
  <cp:revision>2</cp:revision>
  <dcterms:created xsi:type="dcterms:W3CDTF">2026-10-20T17:38:28Z</dcterms:created>
  <dcterms:modified xsi:type="dcterms:W3CDTF">2026-10-20T17:40:16Z</dcterms:modified>
</cp:coreProperties>
</file>